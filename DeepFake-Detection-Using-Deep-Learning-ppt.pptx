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Cabin Medium" panose="020B0604020202020204" charset="0"/>
      <p:regular r:id="rId15"/>
    </p:embeddedFont>
    <p:embeddedFont>
      <p:font typeface="Unbounded Medium" panose="020B0604020202020204" charset="0"/>
      <p:regular r:id="rId16"/>
    </p:embeddedFont>
    <p:embeddedFont>
      <p:font typeface="Unbounded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  <a:srgbClr val="080C27"/>
    <a:srgbClr val="05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Phase-I foundation for a web-based deepfake detection system. Emphasize that the work establishes the research direction, methodology, and first frontend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authentic media toward manipulation and synthetic output. The key issue is verification: realism raises the cost of relying on manual inspection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literature as a set of established directions rather than a claim of a single best model. CNNs learn visual patterns, benchmarks structure evaluation, Xception influenced the field, transfer learning reuses representations, and lightweight models support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boundary of the claim. MobileNetV2 is proposed because it aligns with the practical deployment goal. Training, evaluation, and comparative performance are not completed in Phase-I.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frontend supplies the image, preprocessing standardizes it, MobileNetV2 extracts features, and the classifier produces the REAL or FAKE prediction with confidence for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frontend as the first concrete system layer. The placeholders are intentional and should be replaced only with actual project screenshots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prevent a common misunderstanding. The frontend flow is the current working direction. Dataset preparation, training, validation, testing, and the saved model remain planned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model input quality depends on a disciplined path from dataset structure to preprocessing. Inspection is active work, so avoid presenting fabricated counts, samples, or training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status line to distinguish evidence from intention. Research and methodology are complete, frontend work is underway, and the dataset is under inspection. The model and evaluation are upcoming.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project direction, not a performance claim. The foundation is established; the next technical milestone is training and evaluating the proposed MobileNetV2 model, leading toward a web-based detection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378" y="821829"/>
            <a:ext cx="6603835" cy="3854351"/>
          </a:xfrm>
          <a:custGeom>
            <a:avLst/>
            <a:gdLst/>
            <a:ahLst/>
            <a:cxnLst/>
            <a:rect l="l" t="t" r="r" b="b"/>
            <a:pathLst>
              <a:path w="6603835" h="3854351">
                <a:moveTo>
                  <a:pt x="355591" y="0"/>
                </a:moveTo>
                <a:lnTo>
                  <a:pt x="6248244" y="0"/>
                </a:lnTo>
                <a:arcTo wR="355591" hR="355600" stAng="16200000" swAng="5400000"/>
                <a:lnTo>
                  <a:pt x="6603835" y="3498751"/>
                </a:lnTo>
                <a:arcTo wR="355591" hR="355600" stAng="0" swAng="5400000"/>
                <a:lnTo>
                  <a:pt x="76198" y="3854351"/>
                </a:lnTo>
                <a:arcTo wR="76198" hR="76200" stAng="5400000" swAng="5400000"/>
                <a:lnTo>
                  <a:pt x="0" y="355600"/>
                </a:lnTo>
                <a:arcTo wR="355591" hR="3556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3" name="Text 1"/>
          <p:cNvSpPr/>
          <p:nvPr/>
        </p:nvSpPr>
        <p:spPr>
          <a:xfrm>
            <a:off x="689969" y="1126629"/>
            <a:ext cx="65022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MINOR PROJECT · PHASE-I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9969" y="1399679"/>
            <a:ext cx="589265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12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DeepFake</a:t>
            </a:r>
            <a:endParaRPr lang="en-US" sz="6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12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Detection</a:t>
            </a:r>
            <a:endParaRPr lang="en-US" sz="6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69" y="3126879"/>
            <a:ext cx="5892653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9969" y="3730129"/>
            <a:ext cx="589265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Using Deep Learning</a:t>
            </a: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5E9B9-4257-6FF6-D5A3-ADAD69D9A6DB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080C27"/>
          </a:solidFill>
          <a:ln>
            <a:solidFill>
              <a:srgbClr val="050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39509D-3869-DB35-990E-53AC5B2A348E}"/>
              </a:ext>
            </a:extLst>
          </p:cNvPr>
          <p:cNvSpPr txBox="1"/>
          <p:nvPr/>
        </p:nvSpPr>
        <p:spPr>
          <a:xfrm>
            <a:off x="550416" y="4962617"/>
            <a:ext cx="2876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GURPREET KAUR </a:t>
            </a:r>
          </a:p>
          <a:p>
            <a:r>
              <a:rPr lang="en-US" dirty="0">
                <a:solidFill>
                  <a:schemeClr val="bg1"/>
                </a:solidFill>
              </a:rPr>
              <a:t>300111324046</a:t>
            </a:r>
          </a:p>
          <a:p>
            <a:r>
              <a:rPr lang="en-US" dirty="0">
                <a:solidFill>
                  <a:schemeClr val="bg1"/>
                </a:solidFill>
              </a:rPr>
              <a:t>CSE(AI)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4862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487667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Why Deepfake Detection Matters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4876678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487667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Highly realistic manipulated media makes manual verification increasingly difficult. Detection must help people distinguish authentic content from synthetic or altered media.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795911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4322961"/>
            <a:ext cx="22859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Misinformation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20" y="3795911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320" y="4322961"/>
            <a:ext cx="22859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Identity Misuse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924921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85" y="5451971"/>
            <a:ext cx="22859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Digital Trust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320" y="4924921"/>
            <a:ext cx="406390" cy="406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00320" y="5451971"/>
            <a:ext cx="22859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Content Verification</a:t>
            </a:r>
            <a:endParaRPr lang="en-US" sz="1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16" name="Shape 8"/>
          <p:cNvSpPr/>
          <p:nvPr/>
        </p:nvSpPr>
        <p:spPr>
          <a:xfrm>
            <a:off x="6095848" y="0"/>
            <a:ext cx="6095848" cy="1719461"/>
          </a:xfrm>
          <a:custGeom>
            <a:avLst/>
            <a:gdLst/>
            <a:ahLst/>
            <a:cxnLst/>
            <a:rect l="l" t="t" r="r" b="b"/>
            <a:pathLst>
              <a:path w="6095848" h="1719461">
                <a:moveTo>
                  <a:pt x="304792" y="0"/>
                </a:moveTo>
                <a:lnTo>
                  <a:pt x="5791055" y="0"/>
                </a:lnTo>
                <a:arcTo wR="304792" hR="304800" stAng="16200000" swAng="5400000"/>
                <a:lnTo>
                  <a:pt x="6095848" y="1414661"/>
                </a:lnTo>
                <a:arcTo wR="304792" hR="304800" stAng="0" swAng="5400000"/>
                <a:lnTo>
                  <a:pt x="76198" y="171946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7" name="Text 9"/>
          <p:cNvSpPr/>
          <p:nvPr/>
        </p:nvSpPr>
        <p:spPr>
          <a:xfrm>
            <a:off x="6349841" y="254000"/>
            <a:ext cx="58418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349841" y="527050"/>
            <a:ext cx="55878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REAL IMAGE → AI MANIPULATION → SYNTHETIC / DEEPFAKE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6349841" y="1267420"/>
            <a:ext cx="584185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result becomes difficult to verify by sight alone.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28600"/>
            <a:ext cx="52424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02 · LITERATURE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04792" y="501650"/>
            <a:ext cx="493769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What Existing Research Tells Us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1654770"/>
            <a:ext cx="493769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792" y="2258020"/>
            <a:ext cx="52424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4792" y="2531070"/>
            <a:ext cx="4937696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Capability is established. Efficiency remains the constraint.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4792" y="3403402"/>
            <a:ext cx="493769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 learning can identify manipulation patterns, but computational efficiency remains an important consideration.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74" y="0"/>
            <a:ext cx="6339721" cy="6858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1364" y="0"/>
            <a:ext cx="6339721" cy="6940112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5851669" y="228600"/>
            <a:ext cx="6339721" cy="930870"/>
          </a:xfrm>
          <a:custGeom>
            <a:avLst/>
            <a:gdLst/>
            <a:ahLst/>
            <a:cxnLst/>
            <a:rect l="l" t="t" r="r" b="b"/>
            <a:pathLst>
              <a:path w="6339721" h="930870">
                <a:moveTo>
                  <a:pt x="304792" y="0"/>
                </a:moveTo>
                <a:lnTo>
                  <a:pt x="6034929" y="0"/>
                </a:lnTo>
                <a:arcTo wR="304792" hR="304800" stAng="16200000" swAng="5400000"/>
                <a:lnTo>
                  <a:pt x="6339721" y="626070"/>
                </a:lnTo>
                <a:arcTo wR="304792" hR="304800" stAng="0" swAng="5400000"/>
                <a:lnTo>
                  <a:pt x="76198" y="9308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1" name="Text 7"/>
          <p:cNvSpPr/>
          <p:nvPr/>
        </p:nvSpPr>
        <p:spPr>
          <a:xfrm>
            <a:off x="6029464" y="330200"/>
            <a:ext cx="59841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CNN-Based Detection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029464" y="773410"/>
            <a:ext cx="61619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Learns visual manipulation patterns.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850754" y="1600505"/>
            <a:ext cx="6339721" cy="930870"/>
          </a:xfrm>
          <a:custGeom>
            <a:avLst/>
            <a:gdLst/>
            <a:ahLst/>
            <a:cxnLst/>
            <a:rect l="l" t="t" r="r" b="b"/>
            <a:pathLst>
              <a:path w="6339721" h="930870">
                <a:moveTo>
                  <a:pt x="304792" y="0"/>
                </a:moveTo>
                <a:lnTo>
                  <a:pt x="6034929" y="0"/>
                </a:lnTo>
                <a:arcTo wR="304792" hR="304800" stAng="16200000" swAng="5400000"/>
                <a:lnTo>
                  <a:pt x="6339721" y="626070"/>
                </a:lnTo>
                <a:arcTo wR="304792" hR="304800" stAng="0" swAng="5400000"/>
                <a:lnTo>
                  <a:pt x="76198" y="9308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4" name="Text 10"/>
          <p:cNvSpPr/>
          <p:nvPr/>
        </p:nvSpPr>
        <p:spPr>
          <a:xfrm>
            <a:off x="6028549" y="1702105"/>
            <a:ext cx="59841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FaceForensics++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029159" y="2063203"/>
            <a:ext cx="61619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Benchmark direction for manipulated-face analysis.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851669" y="2962530"/>
            <a:ext cx="6339721" cy="930870"/>
          </a:xfrm>
          <a:custGeom>
            <a:avLst/>
            <a:gdLst/>
            <a:ahLst/>
            <a:cxnLst/>
            <a:rect l="l" t="t" r="r" b="b"/>
            <a:pathLst>
              <a:path w="6339721" h="930870">
                <a:moveTo>
                  <a:pt x="304792" y="0"/>
                </a:moveTo>
                <a:lnTo>
                  <a:pt x="6034929" y="0"/>
                </a:lnTo>
                <a:arcTo wR="304792" hR="304800" stAng="16200000" swAng="5400000"/>
                <a:lnTo>
                  <a:pt x="6339721" y="626070"/>
                </a:lnTo>
                <a:arcTo wR="304792" hR="304800" stAng="0" swAng="5400000"/>
                <a:lnTo>
                  <a:pt x="76198" y="9308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7" name="Text 13"/>
          <p:cNvSpPr/>
          <p:nvPr/>
        </p:nvSpPr>
        <p:spPr>
          <a:xfrm>
            <a:off x="6029464" y="3064130"/>
            <a:ext cx="59841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Xception-Based Detection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029464" y="3507340"/>
            <a:ext cx="61619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influential deepfake detection approach.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851669" y="4322358"/>
            <a:ext cx="6339721" cy="930870"/>
          </a:xfrm>
          <a:custGeom>
            <a:avLst/>
            <a:gdLst/>
            <a:ahLst/>
            <a:cxnLst/>
            <a:rect l="l" t="t" r="r" b="b"/>
            <a:pathLst>
              <a:path w="6339721" h="930870">
                <a:moveTo>
                  <a:pt x="304792" y="0"/>
                </a:moveTo>
                <a:lnTo>
                  <a:pt x="6034929" y="0"/>
                </a:lnTo>
                <a:arcTo wR="304792" hR="304800" stAng="16200000" swAng="5400000"/>
                <a:lnTo>
                  <a:pt x="6339721" y="626070"/>
                </a:lnTo>
                <a:arcTo wR="304792" hR="304800" stAng="0" swAng="5400000"/>
                <a:lnTo>
                  <a:pt x="76198" y="9308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20" name="Text 16"/>
          <p:cNvSpPr/>
          <p:nvPr/>
        </p:nvSpPr>
        <p:spPr>
          <a:xfrm>
            <a:off x="6029464" y="4423958"/>
            <a:ext cx="59841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Transfer Learning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29464" y="4867168"/>
            <a:ext cx="61619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Reuses learned visual representations.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851974" y="5686580"/>
            <a:ext cx="6339721" cy="930870"/>
          </a:xfrm>
          <a:custGeom>
            <a:avLst/>
            <a:gdLst/>
            <a:ahLst/>
            <a:cxnLst/>
            <a:rect l="l" t="t" r="r" b="b"/>
            <a:pathLst>
              <a:path w="6339721" h="930870">
                <a:moveTo>
                  <a:pt x="304792" y="0"/>
                </a:moveTo>
                <a:lnTo>
                  <a:pt x="6034929" y="0"/>
                </a:lnTo>
                <a:arcTo wR="304792" hR="304800" stAng="16200000" swAng="5400000"/>
                <a:lnTo>
                  <a:pt x="6339721" y="626070"/>
                </a:lnTo>
                <a:arcTo wR="304792" hR="304800" stAng="0" swAng="5400000"/>
                <a:lnTo>
                  <a:pt x="76198" y="9308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23" name="Text 19"/>
          <p:cNvSpPr/>
          <p:nvPr/>
        </p:nvSpPr>
        <p:spPr>
          <a:xfrm>
            <a:off x="6029769" y="5788180"/>
            <a:ext cx="59841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Lightweight Detection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029769" y="6231390"/>
            <a:ext cx="61619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practical deployment constraints.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4035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03 · DESIGN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2793930" cy="284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From Complex Models to a Practical Approach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935611"/>
            <a:ext cx="279393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373761"/>
            <a:ext cx="279393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Phase-I focuses on a responsible, implementable direction rather than an unsupported accuracy claim.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75081" y="838200"/>
            <a:ext cx="32511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EXISTING APPROACHES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75081" y="1111250"/>
            <a:ext cx="325111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Complex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775081" y="1620441"/>
            <a:ext cx="325111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Resource-intensive and computationally demanding.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30992" y="609600"/>
            <a:ext cx="3251119" cy="1859161"/>
          </a:xfrm>
          <a:prstGeom prst="roundRect">
            <a:avLst>
              <a:gd name="adj" fmla="val 9836"/>
            </a:avLst>
          </a:prstGeom>
          <a:solidFill>
            <a:srgbClr val="1C3645"/>
          </a:solidFill>
          <a:ln w="25399">
            <a:solidFill>
              <a:srgbClr val="2191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84985" y="863600"/>
            <a:ext cx="29971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OUR DIRECTION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84985" y="1136650"/>
            <a:ext cx="274313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9BE15D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Practical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84985" y="1645841"/>
            <a:ext cx="274313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architecture with transfer learning.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75081" y="2646561"/>
            <a:ext cx="22689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75081" y="3028752"/>
            <a:ext cx="204038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Deployment under practical constraints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72652" y="2646561"/>
            <a:ext cx="204038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PROPOSED DIRECTION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72652" y="3028752"/>
            <a:ext cx="18117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MobileNetV2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41628" y="2646561"/>
            <a:ext cx="204038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CLAIM BOUNDARY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41628" y="3028752"/>
            <a:ext cx="183718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Proposed, not yet validated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037708" y="2646561"/>
            <a:ext cx="12700" cy="97651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20" name="Shape 17"/>
          <p:cNvSpPr/>
          <p:nvPr/>
        </p:nvSpPr>
        <p:spPr>
          <a:xfrm>
            <a:off x="9306684" y="2646561"/>
            <a:ext cx="12700" cy="97651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02DF05-A930-2DCF-AE8C-7EBEBE4C524F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1192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04 · SYSTEM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18497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Proposed Detection Pipeline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6313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30128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compact path from uploaded image to interpretable model output.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2738140"/>
            <a:ext cx="122194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09585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734991"/>
            <a:ext cx="1828754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image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38339" y="2738140"/>
            <a:ext cx="136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438339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438339" y="3734991"/>
            <a:ext cx="1828754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Resize + normalize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67093" y="2738140"/>
            <a:ext cx="13639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267093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MobileNetV2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67093" y="3734991"/>
            <a:ext cx="1828754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95848" y="2738140"/>
            <a:ext cx="137087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095848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Classifier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95848" y="3734991"/>
            <a:ext cx="1828754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Binary prediction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24602" y="2738140"/>
            <a:ext cx="135063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924602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Output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924602" y="3734991"/>
            <a:ext cx="1828754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 / FAKE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753356" y="2738140"/>
            <a:ext cx="137216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753356" y="3291780"/>
            <a:ext cx="1828754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753356" y="3734991"/>
            <a:ext cx="1828754" cy="568920"/>
          </a:xfrm>
          <a:prstGeom prst="rect">
            <a:avLst/>
          </a:prstGeom>
          <a:noFill/>
          <a:ln/>
        </p:spPr>
        <p:txBody>
          <a:bodyPr wrap="square" lIns="0" tIns="0" rIns="203195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Interpret model output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09585" y="4488061"/>
            <a:ext cx="5410065" cy="1457920"/>
          </a:xfrm>
          <a:custGeom>
            <a:avLst/>
            <a:gdLst/>
            <a:ahLst/>
            <a:cxnLst/>
            <a:rect l="l" t="t" r="r" b="b"/>
            <a:pathLst>
              <a:path w="5410065" h="1457920">
                <a:moveTo>
                  <a:pt x="304792" y="0"/>
                </a:moveTo>
                <a:lnTo>
                  <a:pt x="5105272" y="0"/>
                </a:lnTo>
                <a:arcTo wR="304792" hR="304800" stAng="16200000" swAng="5400000"/>
                <a:lnTo>
                  <a:pt x="5410065" y="1153120"/>
                </a:lnTo>
                <a:arcTo wR="304792" hR="304800" stAng="0" swAng="5400000"/>
                <a:lnTo>
                  <a:pt x="76198" y="145792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25" name="Text 22"/>
          <p:cNvSpPr/>
          <p:nvPr/>
        </p:nvSpPr>
        <p:spPr>
          <a:xfrm>
            <a:off x="838179" y="4716661"/>
            <a:ext cx="51814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MODEL CONTRACT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8179" y="4989711"/>
            <a:ext cx="495287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One image in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8179" y="5432921"/>
            <a:ext cx="518147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 binary decision with confidence out.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172046" y="4716661"/>
            <a:ext cx="5410065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pipeline is the proposed system flow. Its performance will be established after training and evaluation.</a:t>
            </a:r>
            <a:endParaRPr lang="en-US" sz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E3198B-3C35-D68B-D0DE-931639AC966C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225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05 · FIRST WORKING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59129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Our First Working Layer — Frontend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5912992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591299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 development establishes the user-facing layer of the proposed detection system.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226991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3754041"/>
            <a:ext cx="181853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UPLOAD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912" y="3226991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32912" y="3754041"/>
            <a:ext cx="17170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IMAGE PREVIEW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741" y="3226991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741" y="3754041"/>
            <a:ext cx="17677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DETECTION RESULT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4653161"/>
            <a:ext cx="406390" cy="406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9585" y="5180211"/>
            <a:ext cx="181853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CONFIDENCE</a:t>
            </a:r>
            <a:endParaRPr lang="en-US" sz="1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2912" y="4653161"/>
            <a:ext cx="406390" cy="4064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732912" y="5180211"/>
            <a:ext cx="37895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REAL / FAKE</a:t>
            </a:r>
            <a:endParaRPr lang="en-US" sz="1800" dirty="0"/>
          </a:p>
        </p:txBody>
      </p:sp>
      <p:sp>
        <p:nvSpPr>
          <p:cNvPr id="16" name="Shape 8"/>
          <p:cNvSpPr/>
          <p:nvPr/>
        </p:nvSpPr>
        <p:spPr>
          <a:xfrm>
            <a:off x="7436855" y="81360"/>
            <a:ext cx="4754840" cy="3276600"/>
          </a:xfrm>
          <a:custGeom>
            <a:avLst/>
            <a:gdLst/>
            <a:ahLst/>
            <a:cxnLst/>
            <a:rect l="l" t="t" r="r" b="b"/>
            <a:pathLst>
              <a:path w="4754840" h="3276600">
                <a:moveTo>
                  <a:pt x="304792" y="0"/>
                </a:moveTo>
                <a:lnTo>
                  <a:pt x="4450048" y="0"/>
                </a:lnTo>
                <a:arcTo wR="304792" hR="304800" stAng="16200000" swAng="5400000"/>
                <a:lnTo>
                  <a:pt x="4754840" y="2971800"/>
                </a:lnTo>
                <a:arcTo wR="304792" hR="304800" stAng="0" swAng="5400000"/>
                <a:lnTo>
                  <a:pt x="76198" y="327660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17" name="Text 9"/>
          <p:cNvSpPr/>
          <p:nvPr/>
        </p:nvSpPr>
        <p:spPr>
          <a:xfrm>
            <a:off x="7690848" y="335360"/>
            <a:ext cx="45008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690848" y="608410"/>
            <a:ext cx="42468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[INSERT ACTUAL FRONTEND SCREENSHOT]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690848" y="1480741"/>
            <a:ext cx="450084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Replace this empty frame with the implemented interface.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7436855" y="3500041"/>
            <a:ext cx="4754840" cy="3276600"/>
          </a:xfrm>
          <a:custGeom>
            <a:avLst/>
            <a:gdLst/>
            <a:ahLst/>
            <a:cxnLst/>
            <a:rect l="l" t="t" r="r" b="b"/>
            <a:pathLst>
              <a:path w="4754840" h="3276600">
                <a:moveTo>
                  <a:pt x="304792" y="0"/>
                </a:moveTo>
                <a:lnTo>
                  <a:pt x="4450048" y="0"/>
                </a:lnTo>
                <a:arcTo wR="304792" hR="304800" stAng="16200000" swAng="5400000"/>
                <a:lnTo>
                  <a:pt x="4754840" y="2971800"/>
                </a:lnTo>
                <a:arcTo wR="304792" hR="304800" stAng="0" swAng="5400000"/>
                <a:lnTo>
                  <a:pt x="76198" y="327660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21" name="Text 13"/>
          <p:cNvSpPr/>
          <p:nvPr/>
        </p:nvSpPr>
        <p:spPr>
          <a:xfrm>
            <a:off x="7690848" y="3754041"/>
            <a:ext cx="45008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690848" y="4027091"/>
            <a:ext cx="42468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[INSERT ACTUAL UPLOAD SCREENSHOT]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7690848" y="4899422"/>
            <a:ext cx="450084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 not use fabricated interface imagery.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06 · SYSTEM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Inside the System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60810"/>
            <a:ext cx="10972526" cy="254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60" y="1998960"/>
            <a:ext cx="5563339" cy="436632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25473" y="2043410"/>
            <a:ext cx="5333867" cy="1027410"/>
          </a:xfrm>
          <a:custGeom>
            <a:avLst/>
            <a:gdLst/>
            <a:ahLst/>
            <a:cxnLst/>
            <a:rect l="l" t="t" r="r" b="b"/>
            <a:pathLst>
              <a:path w="5333867" h="1027410">
                <a:moveTo>
                  <a:pt x="304792" y="0"/>
                </a:moveTo>
                <a:lnTo>
                  <a:pt x="5029074" y="0"/>
                </a:lnTo>
                <a:arcTo wR="304792" hR="304800" stAng="16200000" swAng="5400000"/>
                <a:lnTo>
                  <a:pt x="5333867" y="722610"/>
                </a:lnTo>
                <a:arcTo wR="304792" hR="304800" stAng="0" swAng="5400000"/>
                <a:lnTo>
                  <a:pt x="76198" y="102741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7" name="Text 3"/>
          <p:cNvSpPr/>
          <p:nvPr/>
        </p:nvSpPr>
        <p:spPr>
          <a:xfrm>
            <a:off x="6554068" y="2272010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CURRENT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54068" y="2545060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Frontend layer and user-facing flow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325473" y="3429000"/>
            <a:ext cx="5333867" cy="1027410"/>
          </a:xfrm>
          <a:custGeom>
            <a:avLst/>
            <a:gdLst/>
            <a:ahLst/>
            <a:cxnLst/>
            <a:rect l="l" t="t" r="r" b="b"/>
            <a:pathLst>
              <a:path w="5333867" h="1027410">
                <a:moveTo>
                  <a:pt x="304792" y="0"/>
                </a:moveTo>
                <a:lnTo>
                  <a:pt x="5029074" y="0"/>
                </a:lnTo>
                <a:arcTo wR="304792" hR="304800" stAng="16200000" swAng="5400000"/>
                <a:lnTo>
                  <a:pt x="5333867" y="722610"/>
                </a:lnTo>
                <a:arcTo wR="304792" hR="304800" stAng="0" swAng="5400000"/>
                <a:lnTo>
                  <a:pt x="76198" y="102741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0" name="Text 6"/>
          <p:cNvSpPr/>
          <p:nvPr/>
        </p:nvSpPr>
        <p:spPr>
          <a:xfrm>
            <a:off x="6554067" y="3657600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PLANNED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54067" y="3930650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Training, validation, testing, and saved model</a:t>
            </a:r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C68B0-C0B6-6DE6-FBCF-0A76E4665A0F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9115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07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391150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From Dataset to Model Input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3911502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10420"/>
            <a:ext cx="391150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 extraction and structural inspection are currently in progress. No dataset size or model result is claimed at this stage.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25780" y="609600"/>
            <a:ext cx="122194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825780" y="1163241"/>
            <a:ext cx="2048915" cy="363141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Dataset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25780" y="1672431"/>
            <a:ext cx="2048915" cy="2844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Train, validation, test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79488" y="609600"/>
            <a:ext cx="136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79488" y="1163241"/>
            <a:ext cx="2048915" cy="363141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Preprocess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79488" y="1672431"/>
            <a:ext cx="2048915" cy="568920"/>
          </a:xfrm>
          <a:prstGeom prst="rect">
            <a:avLst/>
          </a:prstGeom>
          <a:noFill/>
          <a:ln/>
        </p:spPr>
        <p:txBody>
          <a:bodyPr wrap="square" lIns="0" tIns="0" rIns="203195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Check, resize, normalize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33195" y="609600"/>
            <a:ext cx="13639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533195" y="1163241"/>
            <a:ext cx="2048915" cy="363141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Model input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533195" y="1672431"/>
            <a:ext cx="2048915" cy="568920"/>
          </a:xfrm>
          <a:prstGeom prst="rect">
            <a:avLst/>
          </a:prstGeom>
          <a:noFill/>
          <a:ln/>
        </p:spPr>
        <p:txBody>
          <a:bodyPr wrap="square" lIns="0" tIns="0" rIns="203195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Standardized image tensor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25780" y="2444552"/>
            <a:ext cx="6756330" cy="1589881"/>
          </a:xfrm>
          <a:custGeom>
            <a:avLst/>
            <a:gdLst/>
            <a:ahLst/>
            <a:cxnLst/>
            <a:rect l="l" t="t" r="r" b="b"/>
            <a:pathLst>
              <a:path w="6756330" h="1589881">
                <a:moveTo>
                  <a:pt x="304792" y="0"/>
                </a:moveTo>
                <a:lnTo>
                  <a:pt x="6451538" y="0"/>
                </a:lnTo>
                <a:arcTo wR="304792" hR="304800" stAng="16200000" swAng="5400000"/>
                <a:lnTo>
                  <a:pt x="6756330" y="1285081"/>
                </a:lnTo>
                <a:arcTo wR="304792" hR="304800" stAng="0" swAng="5400000"/>
                <a:lnTo>
                  <a:pt x="76198" y="158988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16" name="Text 13"/>
          <p:cNvSpPr/>
          <p:nvPr/>
        </p:nvSpPr>
        <p:spPr>
          <a:xfrm>
            <a:off x="5130572" y="2749352"/>
            <a:ext cx="645153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DATASET SCREENSHOT PLACEHOLDER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30572" y="3022402"/>
            <a:ext cx="614674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[INSERT ACTUAL DATASET SCREENSHOT]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30572" y="3531592"/>
            <a:ext cx="64515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the real extracted structure when inspection is complete.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890ECD-3D82-25F2-936E-4897DF95D8D1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08 · PHASE-I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Where We Are Now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50197"/>
              </p:ext>
            </p:extLst>
          </p:nvPr>
        </p:nvGraphicFramePr>
        <p:xfrm>
          <a:off x="609585" y="1560810"/>
          <a:ext cx="6045048" cy="3664652"/>
        </p:xfrm>
        <a:graphic>
          <a:graphicData uri="http://schemas.openxmlformats.org/drawingml/2006/table">
            <a:tbl>
              <a:tblPr/>
              <a:tblGrid>
                <a:gridCol w="3022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Stage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Status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Research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9BE15D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Completed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Methodology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9BE15D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Completed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Frontend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9BE15D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Completed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Dataset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3D4C3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Active inspection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Model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46A6A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Upcoming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Evaluation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46A6A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Upcoming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9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Integration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46A6A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Upcoming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59327" y="1560810"/>
            <a:ext cx="4622784" cy="1337270"/>
          </a:xfrm>
          <a:custGeom>
            <a:avLst/>
            <a:gdLst/>
            <a:ahLst/>
            <a:cxnLst/>
            <a:rect l="l" t="t" r="r" b="b"/>
            <a:pathLst>
              <a:path w="4622784" h="1337270">
                <a:moveTo>
                  <a:pt x="304792" y="0"/>
                </a:moveTo>
                <a:lnTo>
                  <a:pt x="4317991" y="0"/>
                </a:lnTo>
                <a:arcTo wR="304792" hR="304800" stAng="16200000" swAng="5400000"/>
                <a:lnTo>
                  <a:pt x="4622784" y="1032470"/>
                </a:lnTo>
                <a:arcTo wR="304792" hR="304800" stAng="0" swAng="5400000"/>
                <a:lnTo>
                  <a:pt x="76198" y="133727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6" name="Text 3"/>
          <p:cNvSpPr/>
          <p:nvPr/>
        </p:nvSpPr>
        <p:spPr>
          <a:xfrm>
            <a:off x="7187921" y="1789410"/>
            <a:ext cx="43941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87921" y="2100560"/>
            <a:ext cx="416559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Problem, literature, research gap, methodology, frontend.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59327" y="3050480"/>
            <a:ext cx="4622784" cy="1052810"/>
          </a:xfrm>
          <a:custGeom>
            <a:avLst/>
            <a:gdLst/>
            <a:ahLst/>
            <a:cxnLst/>
            <a:rect l="l" t="t" r="r" b="b"/>
            <a:pathLst>
              <a:path w="4622784" h="1052810">
                <a:moveTo>
                  <a:pt x="304792" y="0"/>
                </a:moveTo>
                <a:lnTo>
                  <a:pt x="4317991" y="0"/>
                </a:lnTo>
                <a:arcTo wR="304792" hR="304800" stAng="16200000" swAng="5400000"/>
                <a:lnTo>
                  <a:pt x="4622784" y="748010"/>
                </a:lnTo>
                <a:arcTo wR="304792" hR="304800" stAng="0" swAng="5400000"/>
                <a:lnTo>
                  <a:pt x="76198" y="105281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9" name="Text 6"/>
          <p:cNvSpPr/>
          <p:nvPr/>
        </p:nvSpPr>
        <p:spPr>
          <a:xfrm>
            <a:off x="7187921" y="3279080"/>
            <a:ext cx="43941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" name="Text 7"/>
          <p:cNvSpPr/>
          <p:nvPr/>
        </p:nvSpPr>
        <p:spPr>
          <a:xfrm>
            <a:off x="7187921" y="3590230"/>
            <a:ext cx="439418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Dataset, environment, frontend refinement.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59327" y="4255691"/>
            <a:ext cx="4622784" cy="1052810"/>
          </a:xfrm>
          <a:custGeom>
            <a:avLst/>
            <a:gdLst/>
            <a:ahLst/>
            <a:cxnLst/>
            <a:rect l="l" t="t" r="r" b="b"/>
            <a:pathLst>
              <a:path w="4622784" h="1052810">
                <a:moveTo>
                  <a:pt x="304792" y="0"/>
                </a:moveTo>
                <a:lnTo>
                  <a:pt x="4317991" y="0"/>
                </a:lnTo>
                <a:arcTo wR="304792" hR="304800" stAng="16200000" swAng="5400000"/>
                <a:lnTo>
                  <a:pt x="4622784" y="748010"/>
                </a:lnTo>
                <a:arcTo wR="304792" hR="304800" stAng="0" swAng="5400000"/>
                <a:lnTo>
                  <a:pt x="76198" y="1052810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12" name="Text 9"/>
          <p:cNvSpPr/>
          <p:nvPr/>
        </p:nvSpPr>
        <p:spPr>
          <a:xfrm>
            <a:off x="7187921" y="4484291"/>
            <a:ext cx="43941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87921" y="4795441"/>
            <a:ext cx="439418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Preprocessing, training, testing, integration.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CE6922-F15D-E7D6-B6F3-BBEA7BA6BE71}"/>
              </a:ext>
            </a:extLst>
          </p:cNvPr>
          <p:cNvSpPr/>
          <p:nvPr/>
        </p:nvSpPr>
        <p:spPr>
          <a:xfrm>
            <a:off x="10963921" y="6560598"/>
            <a:ext cx="1192567" cy="230819"/>
          </a:xfrm>
          <a:prstGeom prst="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" y="956518"/>
            <a:ext cx="8254793" cy="5173563"/>
          </a:xfrm>
          <a:custGeom>
            <a:avLst/>
            <a:gdLst/>
            <a:ahLst/>
            <a:cxnLst/>
            <a:rect l="l" t="t" r="r" b="b"/>
            <a:pathLst>
              <a:path w="8254793" h="5173563">
                <a:moveTo>
                  <a:pt x="355591" y="0"/>
                </a:moveTo>
                <a:lnTo>
                  <a:pt x="7899203" y="0"/>
                </a:lnTo>
                <a:arcTo wR="355591" hR="355600" stAng="16200000" swAng="5400000"/>
                <a:lnTo>
                  <a:pt x="8254793" y="4817964"/>
                </a:lnTo>
                <a:arcTo wR="355591" hR="355600" stAng="0" swAng="5400000"/>
                <a:lnTo>
                  <a:pt x="76198" y="5173563"/>
                </a:lnTo>
                <a:arcTo wR="76198" hR="76200" stAng="5400000" swAng="5400000"/>
                <a:lnTo>
                  <a:pt x="0" y="355600"/>
                </a:lnTo>
                <a:arcTo wR="355591" hR="3556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3" name="Text 1"/>
          <p:cNvSpPr/>
          <p:nvPr/>
        </p:nvSpPr>
        <p:spPr>
          <a:xfrm>
            <a:off x="1066773" y="1193800"/>
            <a:ext cx="810239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09 · THE DIRECTION AHEAD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73" y="1466850"/>
            <a:ext cx="749281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From Research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to Detection</a:t>
            </a:r>
            <a:endParaRPr lang="en-US" sz="4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73" y="2889250"/>
            <a:ext cx="7492813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773" y="3327400"/>
            <a:ext cx="122194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66773" y="3881041"/>
            <a:ext cx="1758906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Image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78075" y="3327400"/>
            <a:ext cx="136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978075" y="3881041"/>
            <a:ext cx="1758906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AI analysis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89378" y="3327400"/>
            <a:ext cx="13639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889378" y="3881041"/>
            <a:ext cx="1758906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REAL / FAKE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00680" y="3327400"/>
            <a:ext cx="137087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800680" y="3881041"/>
            <a:ext cx="1758906" cy="297160"/>
          </a:xfrm>
          <a:prstGeom prst="rect">
            <a:avLst/>
          </a:prstGeom>
          <a:noFill/>
          <a:ln/>
        </p:spPr>
        <p:txBody>
          <a:bodyPr wrap="none" lIns="0" tIns="0" rIns="203195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66773" y="4362351"/>
            <a:ext cx="7492813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9BE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Current:</a:t>
            </a:r>
            <a:r>
              <a:rPr lang="en-US" sz="1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Phase-I foundation established.</a:t>
            </a:r>
            <a:endParaRPr lang="en-US" sz="1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9BE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Next:</a:t>
            </a:r>
            <a:r>
              <a:rPr lang="en-US" sz="1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 and evaluate the MobileNetV2 model.</a:t>
            </a:r>
            <a:endParaRPr lang="en-US" sz="1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9BE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goal:</a:t>
            </a:r>
            <a:r>
              <a:rPr lang="en-US" sz="1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 web-based deepfake detection system.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66773" y="5559723"/>
            <a:ext cx="810239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THANK YOU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883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Cabin Bold</vt:lpstr>
      <vt:lpstr>Unbounded SemiBold</vt:lpstr>
      <vt:lpstr>Cabin</vt:lpstr>
      <vt:lpstr>Unbounded Medium</vt:lpstr>
      <vt:lpstr>Cabin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</dc:creator>
  <cp:lastModifiedBy>Gurpreet Kaur</cp:lastModifiedBy>
  <cp:revision>2</cp:revision>
  <dcterms:created xsi:type="dcterms:W3CDTF">2026-10-05T16:11:38Z</dcterms:created>
  <dcterms:modified xsi:type="dcterms:W3CDTF">2026-10-05T16:46:53Z</dcterms:modified>
</cp:coreProperties>
</file>